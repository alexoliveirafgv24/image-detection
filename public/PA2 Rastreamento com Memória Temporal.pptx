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Divisão sugerida: apresentador 1 cobre as Partes 0, 1 e 2 (slides 2 a 7), apresentador 2 cobre as Partes 3, 4 e 5 (slides 8 a 13). Cerca de 55 segundos por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1. O gerador, o simulador de detector e a métrica são reaproveitados nas partes seguintes. Os três casos à mão estão nos testes unitários. O baseline só quebra quando a velocidade passa de 4 px por quadro ou quando a oclusão dura mais que max_age.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1. A validação tem um representante de cada regime de câmera, e nenhuma escolha foi feita olhando a validação. O SDP tem o maior recall com a mesma precisão do FRCNN. O torchvision tem o mesmo AP@0,5 nas caixas que entram no rastreador, mas localiza pior e cada disparo intermitente vira uma track curta. O limiar de IoU foi o botão dominante da 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1. A qualidade por quadro não prevê a identidade. Com 7 sequências, a altura da pessoa é o maior correlato das duas curvas. O movimento aparente explica as câmeras móveis e a oclusão longa explica as paradas. Daqui sai o que a Parte 2 precisa resolver: uma caixa que ande com a pessoa enquanto ela não é 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1. Treinar com as detecções reais do SDP e não com ruído independente simulado: o erro do detector é correlacionado entre quadros, e ruído independente ensinaria o modelo a suavizar um tremor que não existe. A caixa andando junto com a pessoa permite dobrar o max_age em relação ao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1. A GRU melhora o baseline onde a Parte 1 apontou: câmera móvel e oclusões longas. Contra o Kalman, a GRU prevê a caixa melhor até cerca de 15 quadros, mas empata no treino e perde na validação em IDF1. Com limiar de IoU 0,3, prever um pouco melhor raramente muda um casamento. A variante com incerteza é a melhor na validação, mas perde no treino, e pelo protocolo a escolha é feita no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1. O análogo do mosaico do PA1: lá o objeto era cortado no espaço, aqui a trajetória é cortada no tempo. A memória cresce com o número de tracks vivas e não com a duração do vídeo. O teste test_tbptt_continuation_matches_full_sequence verifica que dois blocos encadeados dão o mesmo resultado que a sequência inteira. Passagem para o apresentador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2. No pipeline normal a própria previsão volta na entrada e carrega a velocidade, então nenhuma célula precisa de memória longa. A sonda tira esse atalho. Aí aparece o gradiente que some: as portas mantêm a norma plana por até 60 quadros e a RNN deixa cair, no mesmo ritmo em que esquece a velocidade. Janela de BPTT maior não salva a RNN na sonda. Bate com a aula, mas só onde existe dependência longa.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2. Analítico: norma de dL_t/dh_(t-k) em janelas de 48 quadros da validação. O GRU cai 45 vezes em 8 passos. Com essa receita de treino a porta não traz vantagem: nada no treino pedia memória longa. Empírico: nos buracos de 5 a 19 quadros o GRU mantém o id em 43% das recapturas, contra 37% do baseline. Acima de 20 quadros quase nada sobrevive porque max_age = 20 mata a track. O modelo é usado em buracos maiores que os do treino. Na validação o GRU melhora o baseline: IDF1 0,565 contra 0,519 no MOT17-09 e 0,530 contra 0,501 no MOT17-10.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2. Os três trechos foram escolhidos automaticamente entre as recapturas com id trocado, um de cada tipo. Oclusão longa: MOT17-10, GT 31, visibilidade média 0,06. Buraco médio: MOT17-10, GT 57, no quadro 461 o centro previsto estava cerca de 30 px à esquerda do verdadeiro. Troca: MOT17-09, GT 12, as duas pessoas totalmente visíveis. Um horizonte de memória maior não resolve a troca, que pede uma pista de aparência (Trilha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2. A mudança: janelas de T = 32, oclusão simulada de 8 a 24 quadros em todas as janelas e 25 épocas. O controle muda só a regra de morte da track e não ajuda, então o ganho vem do modelo. No MOT17-09 o ganho é bem maior que o desvio entre seeds. No MOT17-10 fica dentro do desvio. Os dois trechos da galeria com buraco passam a manter o id. O custo: nos primeiros quadros sem observação o modelo corrigido prevê um pouco pior (IoU 0,909 contra 0,934 depois de 1 quadro) e com câmera móvel isso gera mais trocas. O diagnóstico fica confirmado em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2. O SDP limpo tem cerca de 10 detecções por quadro no MOT17-09 e 17 no MOT17-10. Os falsos positivos copiam tamanho e score de detecções reais, então o rastreador não consegue filtrá-los pelo score. Com min_hits = 1, a regra da Parte 1, o rastreador emite toda detecção e todo falso positivo vira uma identidade. Por isso a terceira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2. Nos 18 runs degradados o GRU supera o baseline em 18 de 18 e o GRU com min_hits = 3 supera o GRU em 18 de 18. A razão de amplificação favorece quem já começa pior, por isso a leitura mais justa é a vantagem do GRU sobre o baseline, que encolhe cerca de 80%. Descartes e ruído atacam as observações de que a previsão depende. Com min_hits = 3 o mAP das trajetórias fica acima do das detecções (0,266 contra 0,233 na média). Falsos positivos reais costumam persistir, então essa recuperação é otimista.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993139"/>
            <a:ext cx="105664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06879"/>
            <a:ext cx="10566400" cy="433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993139"/>
            <a:ext cx="105664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06879"/>
            <a:ext cx="10566400" cy="433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694" y="3693689"/>
            <a:ext cx="1088993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9DBB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Learning - PA2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40050"/>
            <a:ext cx="10889933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Identidade ao longo do tempo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511800"/>
            <a:ext cx="108899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Alex Junio Maia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Vinício Deusdará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0 - TESTES SINTÉTICOS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4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Ambiente controlado antes do MOT17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56080"/>
            <a:ext cx="423824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Gerador.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Elipses com ordem de profundidade. Oclusão medida de 5,7 / 10,0 / 20,3 / 30,7 quadros para alvos de 5 / 10 / 20 / 30.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489200"/>
            <a:ext cx="423824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Detector simulado.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Descarte, ruído e falsos positivos. mAP 0,87 sem degradação e 0,69 / 0,39 / 0,14 nos níveis leve, médio e pesado.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322320"/>
            <a:ext cx="423824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(a) IDF1 = 1 e 0 switches. (b) Ids trocadas em k: 2 switches, IDF1 = 0,5. (c) Track partida: 1 switch, IDF1 = 0,75.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4155440"/>
            <a:ext cx="42382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Piso fácil.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5 elipses, 0,5 px/quadro, sem oclusão: IDF1 0,989 ± 0,020 em 10 seeds, zero switches.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757420"/>
            <a:ext cx="42382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quebra.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Velocidade ≥ 4 px/quadro (IDF1 0,38 em 8 px/quadro) e oclusão mais longa que max_age.</a:t>
            </a:r>
            <a:endParaRPr lang="en-US" sz="1300" dirty="0"/>
          </a:p>
        </p:txBody>
      </p:sp>
      <p:pic>
        <p:nvPicPr>
          <p:cNvPr id="9" name="Image 0" descr="Visibilidade e centro do objeto 1, que some por 12 quadros atrás do objeto 2 e volta">    </p:cNvPr>
          <p:cNvPicPr>
            <a:picLocks noChangeAspect="1"/>
          </p:cNvPicPr>
          <p:nvPr/>
        </p:nvPicPr>
        <p:blipFill>
          <a:blip r:embed="rId1"/>
          <a:srcRect l="-152" r="-152" t="0" b="0"/>
          <a:stretch/>
        </p:blipFill>
        <p:spPr>
          <a:xfrm>
            <a:off x="5289550" y="1662430"/>
            <a:ext cx="6083300" cy="2825750"/>
          </a:xfrm>
          <a:prstGeom prst="roundRect">
            <a:avLst>
              <a:gd name="adj" fmla="val 1573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5286375" y="1659255"/>
            <a:ext cx="6089650" cy="2832100"/>
          </a:xfrm>
          <a:prstGeom prst="roundRect">
            <a:avLst>
              <a:gd name="adj" fmla="val 1682"/>
            </a:avLst>
          </a:prstGeom>
          <a:noFill/>
          <a:ln w="6350">
            <a:solidFill>
              <a:srgbClr val="DEDC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83200" y="4596130"/>
            <a:ext cx="62788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Objeto 1 some por 12 quadros atrás do objeto 2 e volta.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1 - BASELINE POR QUADRO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39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Escolhas e números do baseline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56080"/>
            <a:ext cx="497078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014220"/>
            <a:ext cx="49707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por sequência. Treino: 02, 04, 05, 11, 13. Validação: 09 (câmera parada) e 10 (câmera móvel, noite).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2590800"/>
            <a:ext cx="49707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 padrão: SDP público com score ≥ 0,9. AP@0,5 de 0,64 no treino, contra 0,53 do FRCNN e 0,38 do DPM.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167380"/>
            <a:ext cx="49707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Segunda fonte: Faster R-CNN do torchvision (COCO, person), NMS próprio em 0,4, score ≥ 0,7.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3743961"/>
            <a:ext cx="49707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Associação: Hungarian sobre o IoU entre a caixa da track e as detecções, limiar 0,3.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4320539"/>
            <a:ext cx="49707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Detecção sem par vira id novo. Track sem par por 20 quadros morre (max_age).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4897120"/>
            <a:ext cx="49707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Regra escolhida no treino, numa grade de 560 rodadas.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45200" y="1656080"/>
            <a:ext cx="549402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sequências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55678" y="2024697"/>
          <a:ext cx="5323523" cy="2143125"/>
        </p:xfrm>
        <a:graphic>
          <a:graphicData uri="http://schemas.openxmlformats.org/drawingml/2006/table">
            <a:tbl>
              <a:tblPr/>
              <a:tblGrid>
                <a:gridCol w="2661761"/>
                <a:gridCol w="1330881"/>
                <a:gridCol w="1330881"/>
              </a:tblGrid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Métrica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SDP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torchvision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AP@0,5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0,614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mAP@[.5:.95]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0,408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0,343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IDF1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0,594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0,512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 switches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1.438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1.697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ids previstas / verdadeiras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4,6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045200" y="4282123"/>
            <a:ext cx="54940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o SDP: 1.099 identidades previstas para 546 verdadeiras, 2,6 switches por identidade verdadeira.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1 - ONDE A IDENTIDADE SE PERDE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39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Descolamento entre mAP e identidade</a:t>
            </a:r>
            <a:endParaRPr lang="en-US" sz="2800" dirty="0"/>
          </a:p>
        </p:txBody>
      </p:sp>
      <p:pic>
        <p:nvPicPr>
          <p:cNvPr id="4" name="Image 0" descr="Gráfico do descolamento: mAP e IDF1 em cima, ids previstas por verdadeiras e ID switches por identidade embaixo, sequências ordenadas por movimento aparente">    </p:cNvPr>
          <p:cNvPicPr>
            <a:picLocks noChangeAspect="1"/>
          </p:cNvPicPr>
          <p:nvPr/>
        </p:nvPicPr>
        <p:blipFill>
          <a:blip r:embed="rId1"/>
          <a:srcRect l="-62" r="-62" t="0" b="0"/>
          <a:stretch/>
        </p:blipFill>
        <p:spPr>
          <a:xfrm>
            <a:off x="819150" y="1662430"/>
            <a:ext cx="6934200" cy="4044950"/>
          </a:xfrm>
          <a:prstGeom prst="roundRect">
            <a:avLst>
              <a:gd name="adj" fmla="val 109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659255"/>
            <a:ext cx="6940550" cy="4051300"/>
          </a:xfrm>
          <a:prstGeom prst="roundRect">
            <a:avLst>
              <a:gd name="adj" fmla="val 1176"/>
            </a:avLst>
          </a:prstGeom>
          <a:noFill/>
          <a:ln w="6350">
            <a:solidFill>
              <a:srgbClr val="DEDCD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15300" y="1656080"/>
            <a:ext cx="336181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MOT17-05 e MOT17-10 têm o mesmo mAP (0,42 e 0,41) e 1,0 contra 5,7 switches por identidade.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15300" y="2501900"/>
            <a:ext cx="336181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Câmera móvel: 58% das perdas são trocas entre vizinhos e 35% são perdas no coasting.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15300" y="3347720"/>
            <a:ext cx="336181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Câmera parada: 27% são oclusões mais longas que max_age.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15300" y="3962400"/>
            <a:ext cx="336181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61% das perdas a identidade passa para outra track.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15300" y="4577080"/>
            <a:ext cx="336181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Eixo: movimento aparente, 1 − IoU médio entre quadros seguidos.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2 - TRILHA 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39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 como modelo de movimento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659254"/>
            <a:ext cx="3380317" cy="2675255"/>
          </a:xfrm>
          <a:prstGeom prst="roundRect">
            <a:avLst>
              <a:gd name="adj" fmla="val 2730"/>
            </a:avLst>
          </a:prstGeom>
          <a:solidFill>
            <a:srgbClr val="FCFBF8"/>
          </a:solidFill>
          <a:ln w="6350">
            <a:solidFill>
              <a:srgbClr val="DEDC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293" y="1913573"/>
            <a:ext cx="295783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0293" y="2259013"/>
            <a:ext cx="2957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GRU por track, H = 64, 14 mil parâmetros, célula escrita do zero.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0293" y="2822891"/>
            <a:ext cx="295783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Entrada: velocidade relativa ao tamanho da caixa, escala, flag de observação e Δt.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0293" y="3617913"/>
            <a:ext cx="2957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 oclusão a entrada é a própria previsão.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5842" y="1659254"/>
            <a:ext cx="3380317" cy="2675255"/>
          </a:xfrm>
          <a:prstGeom prst="roundRect">
            <a:avLst>
              <a:gd name="adj" fmla="val 2730"/>
            </a:avLst>
          </a:prstGeom>
          <a:solidFill>
            <a:srgbClr val="FCFBF8"/>
          </a:solidFill>
          <a:ln w="6350">
            <a:solidFill>
              <a:srgbClr val="DEDC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0159" y="1913573"/>
            <a:ext cx="295783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0159" y="2259013"/>
            <a:ext cx="2957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Smooth-L1 no deslocamento da caixa do quadro seguinte.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0159" y="2822891"/>
            <a:ext cx="295783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Alvo: GT. Entrada: detecções reais do SDP, com erro correlacionado no tempo (autocorrelação ~0,4).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0159" y="3617913"/>
            <a:ext cx="2957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Scheduled sampling de 0 a 0,5 e buracos de até 40 quadros.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95708" y="1659254"/>
            <a:ext cx="3380317" cy="2675255"/>
          </a:xfrm>
          <a:prstGeom prst="roundRect">
            <a:avLst>
              <a:gd name="adj" fmla="val 2730"/>
            </a:avLst>
          </a:prstGeom>
          <a:solidFill>
            <a:srgbClr val="FCFBF8"/>
          </a:solidFill>
          <a:ln w="6350">
            <a:solidFill>
              <a:srgbClr val="DEDC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0026" y="1913573"/>
            <a:ext cx="295783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Decodificação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50026" y="2259013"/>
            <a:ext cx="295783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Mesmo rastreador da Parte 1, com a caixa prevista pela GRU no lugar da última caixa.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50026" y="3054034"/>
            <a:ext cx="295783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Hungarian, IoU ≥ 0,3, max_age = 40.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50026" y="3386773"/>
            <a:ext cx="2957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Kalman de velocidade constante só como baseline.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591686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final das Partes 4 e 5: mesma arquitetura, retreinada em trajetórias do GT, sem Δt e sem confiança na entrada.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2 - RESULTADOS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39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Comparação com Baseline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278" y="1615756"/>
          <a:ext cx="10555923" cy="1785938"/>
        </p:xfrm>
        <a:graphic>
          <a:graphicData uri="http://schemas.openxmlformats.org/drawingml/2006/table">
            <a:tbl>
              <a:tblPr/>
              <a:tblGrid>
                <a:gridCol w="3166777"/>
                <a:gridCol w="1372270"/>
                <a:gridCol w="1583388"/>
                <a:gridCol w="1372270"/>
                <a:gridCol w="1372270"/>
                <a:gridCol w="1688948"/>
              </a:tblGrid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IDF1 treino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IDF1 validação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IDF1 7 seq.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 switches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ids / verdadeiras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Última caixa (Parte 1)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0,612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0,507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0,594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1.438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2,01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Kalman vel. constante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0,657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0,557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0,641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1.048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1,67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GRU (Trilha A)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0,655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0,519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0,632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1.180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1,62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GRU-NLL + portão adaptativo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0,641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0,561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0,628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1,39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Fração de recapturas que mantêm o id por duração do buraco, câmera parada e câmera móvel, para última caixa, Kalman e GRU">    </p:cNvPr>
          <p:cNvPicPr>
            <a:picLocks noChangeAspect="1"/>
          </p:cNvPicPr>
          <p:nvPr/>
        </p:nvPicPr>
        <p:blipFill>
          <a:blip r:embed="rId1"/>
          <a:srcRect l="-245" r="-245" t="0" b="0"/>
          <a:stretch/>
        </p:blipFill>
        <p:spPr>
          <a:xfrm>
            <a:off x="819150" y="3611246"/>
            <a:ext cx="6845300" cy="1866900"/>
          </a:xfrm>
          <a:prstGeom prst="roundRect">
            <a:avLst>
              <a:gd name="adj" fmla="val 2381"/>
            </a:avLst>
          </a:prstGeom>
        </p:spPr>
      </p:pic>
      <p:sp>
        <p:nvSpPr>
          <p:cNvPr id="6" name="Shape 2"/>
          <p:cNvSpPr/>
          <p:nvPr/>
        </p:nvSpPr>
        <p:spPr>
          <a:xfrm>
            <a:off x="815975" y="3608071"/>
            <a:ext cx="6851650" cy="1873250"/>
          </a:xfrm>
          <a:prstGeom prst="roundRect">
            <a:avLst>
              <a:gd name="adj" fmla="val 2542"/>
            </a:avLst>
          </a:prstGeom>
          <a:noFill/>
          <a:ln w="6350">
            <a:solidFill>
              <a:srgbClr val="DEDCD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75600" y="3604896"/>
            <a:ext cx="35057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Câmera móvel: buracos de 3 a 4 quadros mantêm o id em 74%, contra 58% no baseline.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975600" y="4120514"/>
            <a:ext cx="35057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Câmera parada: buracos de 20 a 39 quadros em 51%, contra 16%.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975600" y="4636136"/>
            <a:ext cx="35057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Mortes por oclusão longa caem à metade.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2 - PERGUNTA DA APRESENTAÇÃO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39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Inferência em janelas de T quadros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659254"/>
            <a:ext cx="5175250" cy="2713355"/>
          </a:xfrm>
          <a:prstGeom prst="roundRect">
            <a:avLst>
              <a:gd name="adj" fmla="val 2691"/>
            </a:avLst>
          </a:prstGeom>
          <a:solidFill>
            <a:srgbClr val="FCFBF8"/>
          </a:solidFill>
          <a:ln w="6350">
            <a:solidFill>
              <a:srgbClr val="D5D9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293" y="1913573"/>
            <a:ext cx="480661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quebra na fronteira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0293" y="2271713"/>
            <a:ext cx="48066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Os ids reiniciam. Quem está nas duas janelas vira duas identidades, o caso (c) da Parte 0 a cada fronteira.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0293" y="2848291"/>
            <a:ext cx="48066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O estado da GRU recomeça sem passado e a previsão volta a ser a última caixa.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0293" y="3424873"/>
            <a:ext cx="48066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Quem está ocluído na fronteira não tem detecção no início da janela seguinte e volta com id novo.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0775" y="1659254"/>
            <a:ext cx="5175250" cy="2713355"/>
          </a:xfrm>
          <a:prstGeom prst="roundRect">
            <a:avLst>
              <a:gd name="adj" fmla="val 2691"/>
            </a:avLst>
          </a:prstGeom>
          <a:solidFill>
            <a:srgbClr val="FCFBF8"/>
          </a:solidFill>
          <a:ln w="6350">
            <a:solidFill>
              <a:srgbClr val="D5D9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092" y="1913573"/>
            <a:ext cx="480661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costurar com a Trilha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55092" y="2271713"/>
            <a:ext cx="480661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Passar as tracks vivas para a janela seguinte: h_t (64 números), última caixa, caixa prevista e idade. Igual ao BPTT truncado do treino.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55092" y="3079434"/>
            <a:ext cx="48066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Com janelas independentes, sobrepor e casar as tracks por IoU na região comum.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55092" y="3656013"/>
            <a:ext cx="48066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Track nova dentro da caixa prevista de uma track em coasting herda o id.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629786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Limite: a previsão de movimento piora com a duração do buraco. Oclusão longa ou cruzamento na fronteira pedem aparência.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3 - ABLAÇÃO, EIXO 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39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RNN simples, LSTM e GRU com o mesmo orçamento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56079"/>
            <a:ext cx="402894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Rastreamento.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LSTM e GRU empatam (IDF1 0,617 a 0,629). RNN simples 0,010 a 0,017 abaixo em todo T. T muda menos de 0,01.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476500"/>
            <a:ext cx="402894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a RNN quebra.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Na sonda, a partir de ~4 quadros de buraco. De 8 em diante prevê a última caixa (IoU 0,277), com qualquer 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296921"/>
            <a:ext cx="402894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Gradiente.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Antes do treino a RNN perde 99% do sinal em 8 passos e a LSTM em 20. Na sonda as portas mantêm a norma e a da RNN cai.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4117342"/>
            <a:ext cx="40289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Escolha.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GRU: empata com a LSTM e não depende de T.</a:t>
            </a:r>
            <a:endParaRPr lang="en-US" sz="1300" dirty="0"/>
          </a:p>
        </p:txBody>
      </p:sp>
      <p:pic>
        <p:nvPicPr>
          <p:cNvPr id="8" name="Image 0" descr="Sonda: IoU da previsão em buracos de 8 a 15 e de 16 a 31 quadros por janela de BPTT, RNN simples abaixo de LSTM e GRU">    </p:cNvPr>
          <p:cNvPicPr>
            <a:picLocks noChangeAspect="1"/>
          </p:cNvPicPr>
          <p:nvPr/>
        </p:nvPicPr>
        <p:blipFill>
          <a:blip r:embed="rId1"/>
          <a:srcRect l="-262" r="-262" t="0" b="0"/>
          <a:stretch/>
        </p:blipFill>
        <p:spPr>
          <a:xfrm>
            <a:off x="5035550" y="1662429"/>
            <a:ext cx="6337300" cy="1854200"/>
          </a:xfrm>
          <a:prstGeom prst="roundRect">
            <a:avLst>
              <a:gd name="adj" fmla="val 2397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5032375" y="1659254"/>
            <a:ext cx="6343650" cy="1860550"/>
          </a:xfrm>
          <a:prstGeom prst="roundRect">
            <a:avLst>
              <a:gd name="adj" fmla="val 2560"/>
            </a:avLst>
          </a:prstGeom>
          <a:noFill/>
          <a:ln w="6350">
            <a:solidFill>
              <a:srgbClr val="DEDC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36245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Sonda, IoU da previsão por janela de BPTT, média ± desvio de 3 seeds.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0" y="3939539"/>
            <a:ext cx="654050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~13,8 mil parâmetros na célula (RNN 113, LSTM 54, GRU 64 unidades). T ∈ {4, 8, 16, 32}, 3 seeds. Sonda: na oclusão entra a última caixa congelada, e a velocidade só atravessa o buraco pelo estado. 63 modelos.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4 - HORIZONTE DE MEMÓRIA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42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Horizonte analítico e empírico do modelo final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05279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final: GRU H = 64, 14.468 parâmetros, só geometria, treinado em trajetórias do GT com T = 16 e oclusões simuladas de 2 a 8 quadros. Avaliado em MOT17-09 e MOT17-10.</a:t>
            </a:r>
            <a:endParaRPr lang="en-US" sz="1300" dirty="0"/>
          </a:p>
        </p:txBody>
      </p:sp>
      <p:pic>
        <p:nvPicPr>
          <p:cNvPr id="5" name="Image 0" descr="Norma do gradiente por passos para trás, GRU e RNN simples, e IoU da caixa prevista sob oclusão por quadros sem observação">    </p:cNvPr>
          <p:cNvPicPr>
            <a:picLocks noChangeAspect="1"/>
          </p:cNvPicPr>
          <p:nvPr/>
        </p:nvPicPr>
        <p:blipFill>
          <a:blip r:embed="rId1"/>
          <a:srcRect l="-195" r="-195" t="0" b="0"/>
          <a:stretch/>
        </p:blipFill>
        <p:spPr>
          <a:xfrm>
            <a:off x="819150" y="2277108"/>
            <a:ext cx="8877300" cy="2482850"/>
          </a:xfrm>
          <a:prstGeom prst="roundRect">
            <a:avLst>
              <a:gd name="adj" fmla="val 179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2273933"/>
            <a:ext cx="8883650" cy="2489200"/>
          </a:xfrm>
          <a:prstGeom prst="roundRect">
            <a:avLst>
              <a:gd name="adj" fmla="val 1913"/>
            </a:avLst>
          </a:prstGeom>
          <a:noFill/>
          <a:ln w="6350">
            <a:solidFill>
              <a:srgbClr val="DEDC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4969508"/>
            <a:ext cx="348826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 = 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12800" y="5386071"/>
            <a:ext cx="348826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 do gradiente abaixo de 5%. A RNN simples também chega em k = 7.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02667" y="4969508"/>
            <a:ext cx="348826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6,9 quadros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402667" y="5386071"/>
            <a:ext cx="348826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buraco em que 50% das recapturas mantêm o id (baseline 6,8).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92533" y="4969508"/>
            <a:ext cx="348826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62%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992533" y="5386071"/>
            <a:ext cx="348826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 oclusões do GT são mais longas que isso (mediana 10 quadros).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4 - GALERIA DE FALHAS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42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falhas do modelo final</a:t>
            </a:r>
            <a:endParaRPr lang="en-US" sz="2800" dirty="0"/>
          </a:p>
        </p:txBody>
      </p:sp>
      <p:pic>
        <p:nvPicPr>
          <p:cNvPr id="4" name="Image 0" descr="Buraco médio no MOT17-10: tira de quadros com GT e tracks, e centro x da pessoa no tempo com a caixa prevista pela GRU durante o buraco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819150" y="1662429"/>
            <a:ext cx="6083300" cy="2393950"/>
          </a:xfrm>
          <a:prstGeom prst="roundRect">
            <a:avLst>
              <a:gd name="adj" fmla="val 1857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659254"/>
            <a:ext cx="6089650" cy="2400300"/>
          </a:xfrm>
          <a:prstGeom prst="roundRect">
            <a:avLst>
              <a:gd name="adj" fmla="val 1984"/>
            </a:avLst>
          </a:prstGeom>
          <a:noFill/>
          <a:ln w="6350">
            <a:solidFill>
              <a:srgbClr val="DEDCD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164329"/>
            <a:ext cx="62788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Buraco médio. GT em branco, tracks tracejadas, caixa prevista pela GRU pontilhada.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4479292"/>
            <a:ext cx="627888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dois primeiros casos têm a mesma causa: treino com T = 16 e oclusões de até 8 quadros, sem supervisão através de buracos do tamanho dos do MOT17. O terceiro pede aparência.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65975" y="1659254"/>
            <a:ext cx="4210050" cy="1209675"/>
          </a:xfrm>
          <a:prstGeom prst="roundRect">
            <a:avLst>
              <a:gd name="adj" fmla="val 6037"/>
            </a:avLst>
          </a:prstGeom>
          <a:solidFill>
            <a:srgbClr val="FCFBF8"/>
          </a:solidFill>
          <a:ln w="6350">
            <a:solidFill>
              <a:srgbClr val="DEDC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69493" y="1811970"/>
            <a:ext cx="39171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Oclusão longa · 10, id 94 → 104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69493" y="2076134"/>
            <a:ext cx="391710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 quadros sem par. A track morre por max_age. A previsão seguiu para a esquerda com a pessoa parada atrás do oclusor.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65975" y="3002279"/>
            <a:ext cx="4210050" cy="996315"/>
          </a:xfrm>
          <a:prstGeom prst="roundRect">
            <a:avLst>
              <a:gd name="adj" fmla="val 7330"/>
            </a:avLst>
          </a:prstGeom>
          <a:solidFill>
            <a:srgbClr val="FCFBF8"/>
          </a:solidFill>
          <a:ln w="6350">
            <a:solidFill>
              <a:srgbClr val="DEDC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69493" y="3154995"/>
            <a:ext cx="39171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Buraco médio · 10, id 145 → 150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69493" y="3419159"/>
            <a:ext cx="391710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quadros sem par, track ainda viva. Previsão em linha reta, a pessoa parou e voltou. IoU 0 na volta.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65975" y="4131946"/>
            <a:ext cx="4210050" cy="1209675"/>
          </a:xfrm>
          <a:prstGeom prst="roundRect">
            <a:avLst>
              <a:gd name="adj" fmla="val 6037"/>
            </a:avLst>
          </a:prstGeom>
          <a:solidFill>
            <a:srgbClr val="FCFBF8"/>
          </a:solidFill>
          <a:ln w="6350">
            <a:solidFill>
              <a:srgbClr val="DEDC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9493" y="4284663"/>
            <a:ext cx="39171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Troca · 09, id 1 → 29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69493" y="4548820"/>
            <a:ext cx="391710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buraco, caixas sobrepostas. A previsão tinha IoU 0,56 com a pessoa certa. O erro é da associação só por IoU.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4 - CORREÇÃO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42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Treinar através de buracos longos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278" y="1590356"/>
          <a:ext cx="10555923" cy="1652588"/>
        </p:xfrm>
        <a:graphic>
          <a:graphicData uri="http://schemas.openxmlformats.org/drawingml/2006/table">
            <a:tbl>
              <a:tblPr/>
              <a:tblGrid>
                <a:gridCol w="3800132"/>
                <a:gridCol w="1688948"/>
                <a:gridCol w="1688948"/>
                <a:gridCol w="1266711"/>
                <a:gridCol w="1055592"/>
                <a:gridCol w="1055592"/>
              </a:tblGrid>
              <a:tr h="3305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Variante (3 seeds)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IDF1 09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IDF1 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IDF1 médio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IDSW 09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IDSW 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</a:tr>
              <a:tr h="3305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 (última caixa)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0,519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0,501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Antes: T = 16, oclusão ≤ 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0,565 ± 0,007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0,530 ± 0,016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0,547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33051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Controle: só max_age = 30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0,555 ± 0,018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0,523 ± 0,016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0,539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Depois: T = 32, oclusão 8 a 24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0,603 ± 0,008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0,542 ± 0,022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0,573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264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5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Antes e depois da correção: horizonte empírico, horizonte analítico e IoU da caixa prevista sob oclusão">    </p:cNvPr>
          <p:cNvPicPr>
            <a:picLocks noChangeAspect="1"/>
          </p:cNvPicPr>
          <p:nvPr/>
        </p:nvPicPr>
        <p:blipFill>
          <a:blip r:embed="rId1"/>
          <a:srcRect l="-364" r="-364" t="0" b="0"/>
          <a:stretch/>
        </p:blipFill>
        <p:spPr>
          <a:xfrm>
            <a:off x="819150" y="3427096"/>
            <a:ext cx="8877300" cy="1727200"/>
          </a:xfrm>
          <a:prstGeom prst="roundRect">
            <a:avLst>
              <a:gd name="adj" fmla="val 2574"/>
            </a:avLst>
          </a:prstGeom>
        </p:spPr>
      </p:pic>
      <p:sp>
        <p:nvSpPr>
          <p:cNvPr id="6" name="Shape 2"/>
          <p:cNvSpPr/>
          <p:nvPr/>
        </p:nvSpPr>
        <p:spPr>
          <a:xfrm>
            <a:off x="815975" y="3423921"/>
            <a:ext cx="8883650" cy="1733550"/>
          </a:xfrm>
          <a:prstGeom prst="roundRect">
            <a:avLst>
              <a:gd name="adj" fmla="val 2747"/>
            </a:avLst>
          </a:prstGeom>
          <a:noFill/>
          <a:ln w="6350">
            <a:solidFill>
              <a:srgbClr val="DEDCD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2800" y="5338446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Horizonte analítico de 7 para 21 passos. Buracos de 15 a 19 quadros mantêm o id em 50%, contra 25%. Custo no MOT17-10 (câmera móvel): ID switches de 231 para 264.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45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5 - TESTE DE ESTRESSE</a:t>
            </a:r>
            <a:endParaRPr lang="en-US" sz="1268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82452"/>
            <a:ext cx="10883392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69"/>
              </a:lnSpc>
              <a:buNone/>
            </a:pPr>
            <a:r>
              <a:rPr lang="en-US" sz="2669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Qualidade do detector, sem retreinar</a:t>
            </a:r>
            <a:endParaRPr lang="en-US" sz="2669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278" y="1586015"/>
          <a:ext cx="6339523" cy="1659890"/>
        </p:xfrm>
        <a:graphic>
          <a:graphicData uri="http://schemas.openxmlformats.org/drawingml/2006/table">
            <a:tbl>
              <a:tblPr/>
              <a:tblGrid>
                <a:gridCol w="1267905"/>
                <a:gridCol w="1267905"/>
                <a:gridCol w="1775066"/>
                <a:gridCol w="2028647"/>
              </a:tblGrid>
              <a:tr h="58832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Nível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Descarte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Ruído (σ / tamanho)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Falsos positivos / quadro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Média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Pesada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0,10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518400" y="1575538"/>
            <a:ext cx="3976624" cy="1623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 corrigido (seed 0), última caixa e o mesmo GRU com min_hits = 3 (track emitida só após 3 observações). MOT17-09 e 10, 3 seeds de degradação.</a:t>
            </a:r>
            <a:endParaRPr lang="en-US" sz="1200" dirty="0"/>
          </a:p>
        </p:txBody>
      </p:sp>
      <p:pic>
        <p:nvPicPr>
          <p:cNvPr id="6" name="Image 0" descr="mAP e IDF1 por intensidade de degradação e razão de ids previstas por verdadeiras, para GRU, GRU com min_hits 3 e bas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224" y="3383384"/>
            <a:ext cx="9550153" cy="2503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5975" y="3380209"/>
            <a:ext cx="10026650" cy="2509414"/>
          </a:xfrm>
          <a:prstGeom prst="roundRect">
            <a:avLst>
              <a:gd name="adj" fmla="val 1898"/>
            </a:avLst>
          </a:prstGeom>
          <a:noFill/>
          <a:ln w="6350">
            <a:solidFill>
              <a:srgbClr val="DEDCD5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2B6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5 - RESULTADO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3142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 e IDF1 por nível de degradação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278" y="1615756"/>
          <a:ext cx="10555923" cy="1865948"/>
        </p:xfrm>
        <a:graphic>
          <a:graphicData uri="http://schemas.openxmlformats.org/drawingml/2006/table">
            <a:tbl>
              <a:tblPr/>
              <a:tblGrid>
                <a:gridCol w="1266711"/>
                <a:gridCol w="1477829"/>
                <a:gridCol w="1477829"/>
                <a:gridCol w="1372270"/>
                <a:gridCol w="1794507"/>
                <a:gridCol w="1372270"/>
                <a:gridCol w="1794507"/>
              </a:tblGrid>
              <a:tr h="54387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Nível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mAP entrada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IDF1 baseline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IDF1 GRU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IDF1 min_hits = 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ids / verd. GRU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ids / verd. min_hits = 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</a:tr>
              <a:tr h="33051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Limpo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0,424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0,492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0,573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0,572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Leve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0,348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0,432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0,484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0,494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9,2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3305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Média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0,233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0,325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0,365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0,388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21,3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Pesada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0,091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0,181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0,198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0,222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35,3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684904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sistema absorve em IDF1.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queda relativa do IDF1 é 0,69 a 0,86 vezes a queda do mAP de entrada, nos três rastreadores.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4017646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parte aprendida é a mais frágil.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vantagem do GRU sobre a última caixa cai de +0,081 para +0,017.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4350383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contagem de ids, min_hits = 1 amplifica.</a:t>
            </a:r>
            <a:r>
              <a:rPr lang="en-US" sz="1300" dirty="0">
                <a:solidFill>
                  <a:srgbClr val="3F49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Todo falso positivo vira identidade. Com min_hits = 3 a razão fica em 6,6 e o IDF1 é o melhor nos três níveis degradados.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4914267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Limitação: falsos positivos uniformes e descartes independentes favorecem o filtro de 3 observações.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2 Rastreamento com Memória Temporal">
  <a:themeElements>
    <a:clrScheme name="PA2 Rastreamento com Memória Temporal">
      <a:dk1>
        <a:srgbClr val="3F4955"/>
      </a:dk1>
      <a:lt1>
        <a:srgbClr val="F6F5F1"/>
      </a:lt1>
      <a:dk2>
        <a:srgbClr val="6D747C"/>
      </a:dk2>
      <a:lt2>
        <a:srgbClr val="E4E4E1"/>
      </a:lt2>
      <a:accent1>
        <a:srgbClr val="2B65A8"/>
      </a:accent1>
      <a:accent2>
        <a:srgbClr val="9DBBE0"/>
      </a:accent2>
      <a:accent3>
        <a:srgbClr val="1C2430"/>
      </a:accent3>
      <a:accent4>
        <a:srgbClr val="6B7480"/>
      </a:accent4>
      <a:accent5>
        <a:srgbClr val="9AA0A6"/>
      </a:accent5>
      <a:accent6>
        <a:srgbClr val="888E93"/>
      </a:accent6>
      <a:hlink>
        <a:srgbClr val="0563C1"/>
      </a:hlink>
      <a:folHlink>
        <a:srgbClr val="954F72"/>
      </a:folHlink>
    </a:clrScheme>
    <a:fontScheme name="PA2 Rastreamento com Memória Temporal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PA2 Rastreamento com Memória Temporal</dc:title>
  <dc:subject/>
  <dc:creator/>
  <cp:lastModifiedBy/>
  <cp:revision>1</cp:revision>
  <dcterms:created xsi:type="dcterms:W3CDTF">2026-10-02T11:52:24Z</dcterms:created>
  <dcterms:modified xsi:type="dcterms:W3CDTF">2026-10-02T11:52:24Z</dcterms:modified>
</cp:coreProperties>
</file>